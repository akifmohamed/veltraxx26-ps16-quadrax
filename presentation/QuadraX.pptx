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</p:sldIdLst>
  <p:sldSz cx="18288000" cy="10287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51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02942" y="2421870"/>
            <a:ext cx="6473404" cy="6759319"/>
          </a:xfrm>
          <a:custGeom>
            <a:avLst/>
            <a:gdLst/>
            <a:ahLst/>
            <a:cxnLst/>
            <a:rect l="l" t="t" r="r" b="b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6346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43814" y="1910177"/>
            <a:ext cx="6993421" cy="1253616"/>
          </a:xfrm>
          <a:custGeom>
            <a:avLst/>
            <a:gdLst/>
            <a:ahLst/>
            <a:cxnLst/>
            <a:rect l="l" t="t" r="r" b="b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1110" b="-3484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0429" y="4056440"/>
            <a:ext cx="6802543" cy="705900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ctr">
              <a:lnSpc>
                <a:spcPts val="5192"/>
              </a:lnSpc>
            </a:pPr>
            <a:r>
              <a:rPr sz="2800" b="1" dirty="0" smtClean="0">
                <a:latin typeface="Times New Roman"/>
              </a:rPr>
              <a:t>TEAM NAME: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QuadraX</a:t>
            </a:r>
            <a:endParaRPr lang="en-US" sz="2800" b="1" dirty="0">
              <a:latin typeface="Times New Roman"/>
            </a:endParaRPr>
          </a:p>
          <a:p>
            <a:pPr algn="l">
              <a:lnSpc>
                <a:spcPts val="5192"/>
              </a:lnSpc>
            </a:pPr>
            <a:endParaRPr lang="en-US" sz="2800" b="1" dirty="0" smtClean="0">
              <a:latin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78671" y="4772310"/>
            <a:ext cx="7323706" cy="721662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ctr">
              <a:lnSpc>
                <a:spcPts val="5373"/>
              </a:lnSpc>
            </a:pPr>
            <a:r>
              <a:rPr sz="2400" b="1" dirty="0">
                <a:latin typeface="Times New Roman"/>
              </a:rPr>
              <a:t>PROBLEM STATEMENT NO: PS 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5714" y="6362700"/>
            <a:ext cx="6980992" cy="739013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ctr">
              <a:lnSpc>
                <a:spcPts val="5467"/>
              </a:lnSpc>
            </a:pPr>
            <a:r>
              <a:rPr sz="2400" b="1" dirty="0">
                <a:latin typeface="Times New Roman"/>
              </a:rPr>
              <a:t>PS Category: Hardware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82697" y="5493972"/>
            <a:ext cx="12115653" cy="615116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ctr">
              <a:lnSpc>
                <a:spcPts val="4108"/>
              </a:lnSpc>
              <a:spcBef>
                <a:spcPct val="0"/>
              </a:spcBef>
            </a:pPr>
            <a:r>
              <a:rPr sz="2400" b="1" dirty="0">
                <a:latin typeface="Times New Roman"/>
              </a:rPr>
              <a:t>PROBLEM STATEMENT TITLE: Open Domain-Specific Silicon / Edge Hardware Innovation (Wildcard)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7658100"/>
            <a:ext cx="510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MEMBERS: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AKIF MOHAMED J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PAVISSH S K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SELVI STELLA M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SOWBARNIHA N 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0442" y="2550009"/>
            <a:ext cx="16037531" cy="6860692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marL="1122679" lvl="1" indent="-561340" algn="l">
              <a:buNone/>
            </a:pPr>
            <a:r>
              <a:rPr sz="2800" b="1" dirty="0">
                <a:latin typeface="Times New Roman"/>
              </a:rPr>
              <a:t>REAL-WORLD PROBLEM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Edge </a:t>
            </a:r>
            <a:r>
              <a:rPr sz="2800" b="0" dirty="0" err="1">
                <a:latin typeface="Times New Roman"/>
              </a:rPr>
              <a:t>IoT</a:t>
            </a:r>
            <a:r>
              <a:rPr sz="2800" b="0" dirty="0">
                <a:latin typeface="Times New Roman"/>
              </a:rPr>
              <a:t> devices need AES-128 encryption and decryption in hardware.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Software AES on Cortex-M4: ~1,136 cycles per 128-bit block.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Physical attacks can target cryptographic keys through fault injection.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WHY IT MATTERS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Slow software crypto limits secure communication on battery devices.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A fault-leaked key can compromise an entire device fleet.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Closed crypto silicon / EDA flows increase development cost.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CURRENT CHALLENGES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Separate encrypt/decrypt </a:t>
            </a:r>
            <a:r>
              <a:rPr sz="2800" b="0" dirty="0" err="1">
                <a:latin typeface="Times New Roman"/>
              </a:rPr>
              <a:t>datapaths</a:t>
            </a:r>
            <a:r>
              <a:rPr sz="2800" b="0" dirty="0">
                <a:latin typeface="Times New Roman"/>
              </a:rPr>
              <a:t> increase area.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Fault detection and rapid key wiping must be tightly coupled.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The accelerator must integrate cleanly with a standard </a:t>
            </a:r>
            <a:r>
              <a:rPr sz="2800" b="0" dirty="0" err="1">
                <a:latin typeface="Times New Roman"/>
              </a:rPr>
              <a:t>SoC</a:t>
            </a:r>
            <a:r>
              <a:rPr sz="2800" b="0" dirty="0">
                <a:latin typeface="Times New Roman"/>
              </a:rPr>
              <a:t> bus.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2917" y="1790701"/>
            <a:ext cx="5245484" cy="762000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l">
              <a:buNone/>
            </a:pPr>
            <a:r>
              <a:rPr sz="3600" b="1" dirty="0">
                <a:latin typeface="Times New Roman"/>
              </a:rPr>
              <a:t>Problem </a:t>
            </a:r>
            <a:r>
              <a:rPr sz="3600" b="1" dirty="0" smtClean="0">
                <a:latin typeface="Times New Roman"/>
              </a:rPr>
              <a:t>Statement</a:t>
            </a:r>
            <a:r>
              <a:rPr lang="en-US" sz="3600" b="1" dirty="0" smtClean="0">
                <a:latin typeface="Times New Roman"/>
              </a:rPr>
              <a:t>:</a:t>
            </a:r>
            <a:endParaRPr sz="3600" b="1" dirty="0">
              <a:latin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6316373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2916" y="1790699"/>
            <a:ext cx="16294508" cy="7330741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l">
              <a:buNone/>
            </a:pPr>
            <a:r>
              <a:rPr sz="2800" b="1" dirty="0" err="1">
                <a:latin typeface="Times New Roman"/>
              </a:rPr>
              <a:t>QuadraX</a:t>
            </a:r>
            <a:r>
              <a:rPr sz="2800" b="1" dirty="0">
                <a:latin typeface="Times New Roman"/>
              </a:rPr>
              <a:t> AES-128 Cryptographic </a:t>
            </a:r>
            <a:r>
              <a:rPr sz="2800" b="1" dirty="0" err="1">
                <a:latin typeface="Times New Roman"/>
              </a:rPr>
              <a:t>SoC</a:t>
            </a:r>
            <a:r>
              <a:rPr sz="2800" b="1" dirty="0">
                <a:latin typeface="Times New Roman"/>
              </a:rPr>
              <a:t> for Edge </a:t>
            </a:r>
            <a:r>
              <a:rPr sz="2800" b="1" dirty="0" smtClean="0">
                <a:latin typeface="Times New Roman"/>
              </a:rPr>
              <a:t>Silicon</a:t>
            </a:r>
            <a:r>
              <a:rPr lang="en-US" sz="2800" b="1" dirty="0" smtClean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  <a:p>
            <a:pPr algn="l">
              <a:buNone/>
            </a:pPr>
            <a:endParaRPr sz="2800" b="1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ONE-LINE SOLUTION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Resource-shared bidirectional AES-128 </a:t>
            </a:r>
            <a:r>
              <a:rPr sz="2800" b="0" dirty="0" err="1">
                <a:latin typeface="Times New Roman"/>
              </a:rPr>
              <a:t>SoC</a:t>
            </a:r>
            <a:r>
              <a:rPr sz="2800" b="0" dirty="0">
                <a:latin typeface="Times New Roman"/>
              </a:rPr>
              <a:t> with 1-cycle tamper </a:t>
            </a:r>
            <a:r>
              <a:rPr sz="2800" b="0" dirty="0" err="1">
                <a:latin typeface="Times New Roman"/>
              </a:rPr>
              <a:t>zeroization</a:t>
            </a:r>
            <a:r>
              <a:rPr sz="2800" b="0" dirty="0">
                <a:latin typeface="Times New Roman"/>
              </a:rPr>
              <a:t>, AXI4-Lite integration and FPGA verification.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HOW IT SOLVES THE PROBLEM</a:t>
            </a:r>
          </a:p>
          <a:p>
            <a:pPr algn="l">
              <a:buNone/>
            </a:pPr>
            <a:r>
              <a:rPr sz="2800" dirty="0">
                <a:latin typeface="Times New Roman"/>
              </a:rPr>
              <a:t>• One </a:t>
            </a:r>
            <a:r>
              <a:rPr sz="2800" dirty="0" err="1">
                <a:latin typeface="Times New Roman"/>
              </a:rPr>
              <a:t>datapath</a:t>
            </a:r>
            <a:r>
              <a:rPr sz="2800" dirty="0">
                <a:latin typeface="Times New Roman"/>
              </a:rPr>
              <a:t> supports encryption + decryption using a shared composite GF(2^8) S-Box/</a:t>
            </a:r>
            <a:r>
              <a:rPr sz="2800" dirty="0" err="1">
                <a:latin typeface="Times New Roman"/>
              </a:rPr>
              <a:t>InvS</a:t>
            </a:r>
            <a:r>
              <a:rPr sz="2800" dirty="0">
                <a:latin typeface="Times New Roman"/>
              </a:rPr>
              <a:t>-Box.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Tamper detection → 1-cycle abort + atomic wipe of 1,408 round-key bits, master key and outputs.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</a:t>
            </a:r>
            <a:r>
              <a:rPr sz="2800" b="0" dirty="0" err="1">
                <a:latin typeface="Times New Roman"/>
              </a:rPr>
              <a:t>Unmaskable</a:t>
            </a:r>
            <a:r>
              <a:rPr sz="2800" b="0" dirty="0">
                <a:latin typeface="Times New Roman"/>
              </a:rPr>
              <a:t> </a:t>
            </a:r>
            <a:r>
              <a:rPr sz="2800" b="0" dirty="0" err="1">
                <a:latin typeface="Times New Roman"/>
              </a:rPr>
              <a:t>security_irq</a:t>
            </a:r>
            <a:r>
              <a:rPr sz="2800" b="0" dirty="0">
                <a:latin typeface="Times New Roman"/>
              </a:rPr>
              <a:t> reports an active security fault.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AXI4-Lite register file: CTRL, STATUS, KEY0–3, DIN0–3, DOUT0–3.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10 cycles/block at 50 MHz; 9/9 regression tests passed.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801600" y="3401568"/>
            <a:ext cx="1554480" cy="457200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marL="0" lvl="0" indent="0" algn="ctr">
              <a:buNone/>
            </a:pPr>
            <a:r>
              <a:rPr sz="1050" b="1">
                <a:latin typeface="Times New Roman"/>
              </a:rPr>
              <a:t>security_irq</a:t>
            </a:r>
          </a:p>
        </p:txBody>
      </p:sp>
      <p:sp>
        <p:nvSpPr>
          <p:cNvPr id="4" name="Freeform 4"/>
          <p:cNvSpPr/>
          <p:nvPr/>
        </p:nvSpPr>
        <p:spPr>
          <a:xfrm>
            <a:off x="4600883" y="-34225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11480" y="2019300"/>
            <a:ext cx="13944600" cy="914400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/>
              </a:rPr>
              <a:t>ARCHITECTURAL BLOCK DIAGRAM:</a:t>
            </a:r>
            <a:endParaRPr sz="2800" b="1" dirty="0">
              <a:latin typeface="Times New Roman"/>
            </a:endParaRPr>
          </a:p>
        </p:txBody>
      </p:sp>
      <p:sp>
        <p:nvSpPr>
          <p:cNvPr id="12" name="Freeform 6"/>
          <p:cNvSpPr/>
          <p:nvPr/>
        </p:nvSpPr>
        <p:spPr>
          <a:xfrm>
            <a:off x="8586247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6"/>
          <p:cNvSpPr/>
          <p:nvPr/>
        </p:nvSpPr>
        <p:spPr>
          <a:xfrm>
            <a:off x="8738647" y="11211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42" y="2628900"/>
            <a:ext cx="16287181" cy="7075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7800" y="1866900"/>
            <a:ext cx="13617077" cy="8121086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>
              <a:buNone/>
            </a:pPr>
            <a:r>
              <a:rPr sz="2800" b="1" dirty="0">
                <a:latin typeface="Times New Roman"/>
              </a:rPr>
              <a:t>PURPOSE OF </a:t>
            </a:r>
            <a:r>
              <a:rPr sz="2800" b="1" dirty="0" smtClean="0">
                <a:latin typeface="Times New Roman"/>
              </a:rPr>
              <a:t>BLOCKS</a:t>
            </a:r>
            <a:r>
              <a:rPr lang="en-US" sz="2800" b="1" dirty="0" smtClean="0">
                <a:latin typeface="Times New Roman"/>
              </a:rPr>
              <a:t> :</a:t>
            </a:r>
            <a:endParaRPr sz="2800" b="1" dirty="0">
              <a:latin typeface="Times New Roman"/>
            </a:endParaRPr>
          </a:p>
          <a:p>
            <a:pPr>
              <a:buNone/>
            </a:pPr>
            <a:endParaRPr sz="2800" b="1" dirty="0">
              <a:latin typeface="Times New Roman"/>
            </a:endParaRPr>
          </a:p>
          <a:p>
            <a:pPr>
              <a:buNone/>
            </a:pPr>
            <a:r>
              <a:rPr sz="2800" b="1" dirty="0">
                <a:latin typeface="Times New Roman"/>
              </a:rPr>
              <a:t>INPUT — AXI4-LITE SLAVE + REGISTER FILE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Receives key, data and control commands from a bus master.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Standard interface makes the accelerator reusable </a:t>
            </a:r>
            <a:r>
              <a:rPr sz="2800" b="0" dirty="0" err="1">
                <a:latin typeface="Times New Roman"/>
              </a:rPr>
              <a:t>SoC</a:t>
            </a:r>
            <a:r>
              <a:rPr sz="2800" b="0" dirty="0">
                <a:latin typeface="Times New Roman"/>
              </a:rPr>
              <a:t> IP.</a:t>
            </a:r>
          </a:p>
          <a:p>
            <a:pPr>
              <a:buNone/>
            </a:pPr>
            <a:endParaRPr sz="2800" b="0" dirty="0">
              <a:latin typeface="Times New Roman"/>
            </a:endParaRPr>
          </a:p>
          <a:p>
            <a:pPr>
              <a:buNone/>
            </a:pPr>
            <a:r>
              <a:rPr sz="2800" b="0" dirty="0">
                <a:latin typeface="Times New Roman"/>
              </a:rPr>
              <a:t>PROCESSING — BIDIRECTIONAL AES-128 CORE</a:t>
            </a:r>
          </a:p>
          <a:p>
            <a:pPr>
              <a:buNone/>
            </a:pPr>
            <a:r>
              <a:rPr sz="2800" b="1" dirty="0">
                <a:latin typeface="Times New Roman"/>
              </a:rPr>
              <a:t>• One shared round </a:t>
            </a:r>
            <a:r>
              <a:rPr sz="2800" b="1" dirty="0" err="1">
                <a:latin typeface="Times New Roman"/>
              </a:rPr>
              <a:t>datapath</a:t>
            </a:r>
            <a:r>
              <a:rPr sz="2800" b="1" dirty="0">
                <a:latin typeface="Times New Roman"/>
              </a:rPr>
              <a:t> for forward and inverse transforms.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Shared S-Box, </a:t>
            </a:r>
            <a:r>
              <a:rPr sz="2800" b="0" dirty="0" err="1">
                <a:latin typeface="Times New Roman"/>
              </a:rPr>
              <a:t>ShiftRows</a:t>
            </a:r>
            <a:r>
              <a:rPr sz="2800" b="0" dirty="0">
                <a:latin typeface="Times New Roman"/>
              </a:rPr>
              <a:t> and </a:t>
            </a:r>
            <a:r>
              <a:rPr sz="2800" b="0" dirty="0" err="1">
                <a:latin typeface="Times New Roman"/>
              </a:rPr>
              <a:t>MixColumns</a:t>
            </a:r>
            <a:r>
              <a:rPr sz="2800" b="0" dirty="0">
                <a:latin typeface="Times New Roman"/>
              </a:rPr>
              <a:t>; on-the-fly key expansion.</a:t>
            </a:r>
          </a:p>
          <a:p>
            <a:pPr>
              <a:buNone/>
            </a:pPr>
            <a:endParaRPr sz="2800" b="0" dirty="0">
              <a:latin typeface="Times New Roman"/>
            </a:endParaRPr>
          </a:p>
          <a:p>
            <a:pPr>
              <a:buNone/>
            </a:pPr>
            <a:r>
              <a:rPr sz="2800" b="0" dirty="0">
                <a:latin typeface="Times New Roman"/>
              </a:rPr>
              <a:t>OUTPUT — DOUT REGISTERS + STATUS / LEDS</a:t>
            </a:r>
          </a:p>
          <a:p>
            <a:pPr>
              <a:buNone/>
            </a:pPr>
            <a:r>
              <a:rPr sz="2800" b="1" dirty="0">
                <a:latin typeface="Times New Roman"/>
              </a:rPr>
              <a:t>• </a:t>
            </a:r>
            <a:r>
              <a:rPr sz="2800" b="1" dirty="0" err="1">
                <a:latin typeface="Times New Roman"/>
              </a:rPr>
              <a:t>Ciphertext</a:t>
            </a:r>
            <a:r>
              <a:rPr sz="2800" b="1" dirty="0">
                <a:latin typeface="Times New Roman"/>
              </a:rPr>
              <a:t> / recovered plaintext is read back through AXI.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Hardware demo: 0x97 encrypt • 0x2A decrypt • 0x00 tamper wipeout.</a:t>
            </a:r>
          </a:p>
          <a:p>
            <a:pPr>
              <a:buNone/>
            </a:pPr>
            <a:endParaRPr sz="2800" b="0" dirty="0">
              <a:latin typeface="Times New Roman"/>
            </a:endParaRPr>
          </a:p>
          <a:p>
            <a:pPr>
              <a:buNone/>
            </a:pPr>
            <a:r>
              <a:rPr sz="2800" b="0" dirty="0">
                <a:latin typeface="Times New Roman"/>
              </a:rPr>
              <a:t>ARCHITECTURAL TRADE-OFFS</a:t>
            </a:r>
          </a:p>
          <a:p>
            <a:pPr>
              <a:buNone/>
            </a:pPr>
            <a:r>
              <a:rPr sz="2800" b="1" dirty="0">
                <a:latin typeface="Times New Roman"/>
              </a:rPr>
              <a:t>• Iterative </a:t>
            </a:r>
            <a:r>
              <a:rPr sz="2800" b="1" dirty="0" err="1">
                <a:latin typeface="Times New Roman"/>
              </a:rPr>
              <a:t>vs</a:t>
            </a:r>
            <a:r>
              <a:rPr sz="2800" b="1" dirty="0">
                <a:latin typeface="Times New Roman"/>
              </a:rPr>
              <a:t> unrolled: lower area; cost = 10 cycles/block.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Shared S-Box </a:t>
            </a:r>
            <a:r>
              <a:rPr sz="2800" b="0" dirty="0" err="1">
                <a:latin typeface="Times New Roman"/>
              </a:rPr>
              <a:t>vs</a:t>
            </a:r>
            <a:r>
              <a:rPr sz="2800" b="0" dirty="0">
                <a:latin typeface="Times New Roman"/>
              </a:rPr>
              <a:t> two tables: smaller substitution logic; added mux/affine logic.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Parity tamper check </a:t>
            </a:r>
            <a:r>
              <a:rPr sz="2800" b="0" dirty="0" err="1">
                <a:latin typeface="Times New Roman"/>
              </a:rPr>
              <a:t>vs</a:t>
            </a:r>
            <a:r>
              <a:rPr sz="2800" b="0" dirty="0">
                <a:latin typeface="Times New Roman"/>
              </a:rPr>
              <a:t> redundant core: low overhead; narrower fault coverage.</a:t>
            </a:r>
          </a:p>
          <a:p>
            <a:pPr>
              <a:buNone/>
            </a:pPr>
            <a:r>
              <a:rPr sz="2800" b="0" dirty="0">
                <a:latin typeface="Times New Roman"/>
              </a:rPr>
              <a:t>• AXI4-Lite </a:t>
            </a:r>
            <a:r>
              <a:rPr sz="2800" b="0" dirty="0" err="1">
                <a:latin typeface="Times New Roman"/>
              </a:rPr>
              <a:t>vs</a:t>
            </a:r>
            <a:r>
              <a:rPr sz="2800" b="0" dirty="0">
                <a:latin typeface="Times New Roman"/>
              </a:rPr>
              <a:t> full AXI: simpler integration; no burst transfers.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5664" y="2165914"/>
            <a:ext cx="16372074" cy="2816294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r>
              <a:rPr lang="en-US" sz="2800" b="1" dirty="0">
                <a:latin typeface="Times New Roman"/>
              </a:rPr>
              <a:t>OUTPUTS AND </a:t>
            </a:r>
            <a:r>
              <a:rPr lang="en-US" sz="2800" b="1" dirty="0" smtClean="0">
                <a:latin typeface="Times New Roman"/>
              </a:rPr>
              <a:t>RESULTS:</a:t>
            </a:r>
            <a:endParaRPr lang="en-US" sz="2800" b="1" dirty="0">
              <a:latin typeface="Times New Roman"/>
            </a:endParaRPr>
          </a:p>
          <a:p>
            <a:endParaRPr lang="en-US" sz="2800" b="1" dirty="0">
              <a:latin typeface="Times New Roman"/>
            </a:endParaRPr>
          </a:p>
          <a:p>
            <a:r>
              <a:rPr lang="en-US" sz="2800" b="1" dirty="0">
                <a:latin typeface="Times New Roman"/>
              </a:rPr>
              <a:t>LIVE FPGA DEMONSTRATION — BASYS3 / ARTIX-7 @ 50 MHz</a:t>
            </a:r>
          </a:p>
          <a:p>
            <a:r>
              <a:rPr lang="en-US" sz="2800" dirty="0">
                <a:latin typeface="Times New Roman"/>
              </a:rPr>
              <a:t>• Encryption: 0x97 — PASS.</a:t>
            </a:r>
          </a:p>
          <a:p>
            <a:r>
              <a:rPr lang="en-US" sz="2800" dirty="0">
                <a:latin typeface="Times New Roman"/>
              </a:rPr>
              <a:t>• Decryption: 0x2A — PASS.</a:t>
            </a:r>
          </a:p>
          <a:p>
            <a:r>
              <a:rPr lang="en-US" sz="2800" dirty="0">
                <a:latin typeface="Times New Roman"/>
              </a:rPr>
              <a:t>• Tamper / </a:t>
            </a:r>
            <a:r>
              <a:rPr lang="en-US" sz="2800" dirty="0" err="1">
                <a:latin typeface="Times New Roman"/>
              </a:rPr>
              <a:t>zeroization</a:t>
            </a:r>
            <a:r>
              <a:rPr lang="en-US" sz="2800" dirty="0">
                <a:latin typeface="Times New Roman"/>
              </a:rPr>
              <a:t>: 0x00 — PASS.</a:t>
            </a:r>
          </a:p>
          <a:p>
            <a:endParaRPr lang="en-US" sz="2800" dirty="0">
              <a:latin typeface="Times New Roman"/>
            </a:endParaRPr>
          </a:p>
          <a:p>
            <a:r>
              <a:rPr lang="en-US" sz="2800" b="1" dirty="0">
                <a:latin typeface="Times New Roman"/>
              </a:rPr>
              <a:t>PERFORMANCE</a:t>
            </a:r>
          </a:p>
          <a:p>
            <a:r>
              <a:rPr lang="en-US" sz="2800" dirty="0">
                <a:latin typeface="Times New Roman"/>
              </a:rPr>
              <a:t>• Latency: 10 cycles = 200 ns per 128-bit block.</a:t>
            </a:r>
          </a:p>
          <a:p>
            <a:r>
              <a:rPr lang="en-US" sz="2800" dirty="0">
                <a:latin typeface="Times New Roman"/>
              </a:rPr>
              <a:t>• Throughput: 0.64 </a:t>
            </a:r>
            <a:r>
              <a:rPr lang="en-US" sz="2800" dirty="0" err="1">
                <a:latin typeface="Times New Roman"/>
              </a:rPr>
              <a:t>Gbps</a:t>
            </a:r>
            <a:r>
              <a:rPr lang="en-US" sz="2800" dirty="0">
                <a:latin typeface="Times New Roman"/>
              </a:rPr>
              <a:t>.</a:t>
            </a:r>
          </a:p>
          <a:p>
            <a:endParaRPr lang="en-US" sz="2800" dirty="0">
              <a:latin typeface="Times New Roman"/>
            </a:endParaRPr>
          </a:p>
          <a:p>
            <a:r>
              <a:rPr lang="en-US" sz="2800" b="1" dirty="0">
                <a:latin typeface="Times New Roman"/>
              </a:rPr>
              <a:t>IMPLEMENTATION</a:t>
            </a:r>
          </a:p>
          <a:p>
            <a:r>
              <a:rPr lang="en-US" sz="2800" dirty="0">
                <a:latin typeface="Times New Roman"/>
              </a:rPr>
              <a:t>• </a:t>
            </a:r>
            <a:r>
              <a:rPr lang="en-US" sz="2800" dirty="0" err="1">
                <a:latin typeface="Times New Roman"/>
              </a:rPr>
              <a:t>Yosys</a:t>
            </a:r>
            <a:r>
              <a:rPr lang="en-US" sz="2800" dirty="0">
                <a:latin typeface="Times New Roman"/>
              </a:rPr>
              <a:t> 0.9 gate-level </a:t>
            </a:r>
            <a:r>
              <a:rPr lang="en-US" sz="2800" dirty="0" err="1">
                <a:latin typeface="Times New Roman"/>
              </a:rPr>
              <a:t>netlist</a:t>
            </a:r>
            <a:r>
              <a:rPr lang="en-US" sz="2800" dirty="0">
                <a:latin typeface="Times New Roman"/>
              </a:rPr>
              <a:t> committed.</a:t>
            </a:r>
          </a:p>
          <a:p>
            <a:r>
              <a:rPr lang="en-US" sz="2800" dirty="0">
                <a:latin typeface="Times New Roman"/>
              </a:rPr>
              <a:t>• RTL, simulation and FPGA evidence are included in the project repository.</a:t>
            </a:r>
          </a:p>
          <a:p>
            <a:r>
              <a:rPr lang="en-US" sz="2800" dirty="0">
                <a:latin typeface="Times New Roman"/>
              </a:rPr>
              <a:t>• </a:t>
            </a:r>
            <a:r>
              <a:rPr lang="en-US" sz="2800" dirty="0" err="1">
                <a:latin typeface="Times New Roman"/>
              </a:rPr>
              <a:t>SkyWater</a:t>
            </a:r>
            <a:r>
              <a:rPr lang="en-US" sz="2800" dirty="0">
                <a:latin typeface="Times New Roman"/>
              </a:rPr>
              <a:t> 130 nm ASIC physical flow is future work; current delivered scope is RTL + synthesis + simulation + FPGA.</a:t>
            </a:r>
            <a:endParaRPr lang="en-US" sz="2800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5664" y="2165914"/>
            <a:ext cx="16372074" cy="2816294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r>
              <a:rPr lang="en-US" sz="2800" b="1" dirty="0">
                <a:latin typeface="Times New Roman"/>
              </a:rPr>
              <a:t>OUTPUTS AND </a:t>
            </a:r>
            <a:r>
              <a:rPr lang="en-US" sz="2800" b="1" dirty="0" smtClean="0">
                <a:latin typeface="Times New Roman"/>
              </a:rPr>
              <a:t>RESULTS:</a:t>
            </a:r>
            <a:endParaRPr lang="en-US" sz="2800" b="1" dirty="0">
              <a:latin typeface="Times New Roman"/>
            </a:endParaRPr>
          </a:p>
          <a:p>
            <a:endParaRPr lang="en-US" sz="2800" b="1" dirty="0"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66605" y="3542831"/>
            <a:ext cx="4956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5803D"/>
                </a:solidFill>
                <a:latin typeface="Calibri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600200" y="7955883"/>
            <a:ext cx="32717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NIST </a:t>
            </a:r>
            <a:r>
              <a:rPr sz="2400" dirty="0" err="1">
                <a:latin typeface="Times New Roman" pitchFamily="18" charset="0"/>
                <a:cs typeface="Times New Roman" pitchFamily="18" charset="0"/>
              </a:rPr>
              <a:t>Enc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(0x97 PASS)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6529" y="7966338"/>
            <a:ext cx="32282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NIST Dec (0x2A PASS)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25083" y="7863184"/>
            <a:ext cx="36819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Tamper Wipe (0x00 PASS)</a:t>
            </a:r>
          </a:p>
        </p:txBody>
      </p:sp>
      <p:pic>
        <p:nvPicPr>
          <p:cNvPr id="18" name="Picture 4" descr="C:\Users\HI\Downloads\basys3_encryption_0x97.jpe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96" y="4023081"/>
            <a:ext cx="5917562" cy="372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C:\Users\HI\Downloads\basys3_decryption_0x2A.jpe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796" y="3993093"/>
            <a:ext cx="5472068" cy="375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C:\Users\HI\Downloads\basys3_tamper_reset_0x00.jpe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384" y="3993094"/>
            <a:ext cx="5426718" cy="372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3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3670" y="2476500"/>
            <a:ext cx="16372074" cy="2816294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l">
              <a:buNone/>
            </a:pPr>
            <a:r>
              <a:rPr sz="2800" b="1" dirty="0">
                <a:latin typeface="Times New Roman"/>
              </a:rPr>
              <a:t>OUTPUTS AND </a:t>
            </a:r>
            <a:r>
              <a:rPr sz="2800" b="1" dirty="0" smtClean="0">
                <a:latin typeface="Times New Roman"/>
              </a:rPr>
              <a:t>RESULTS</a:t>
            </a:r>
            <a:r>
              <a:rPr lang="en-US" sz="2800" b="1" dirty="0" smtClean="0">
                <a:latin typeface="Times New Roman"/>
              </a:rPr>
              <a:t> :</a:t>
            </a:r>
            <a:endParaRPr sz="2800" b="1" dirty="0">
              <a:latin typeface="Times New Roman"/>
            </a:endParaRPr>
          </a:p>
          <a:p>
            <a:pPr algn="l">
              <a:buNone/>
            </a:pPr>
            <a:endParaRPr sz="2800" b="1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VERIFICATION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9/9 regression tests PASS: 4 encrypt KAT + 4 decrypt KAT + fault/</a:t>
            </a:r>
            <a:r>
              <a:rPr sz="2800" b="0" dirty="0" err="1">
                <a:latin typeface="Times New Roman"/>
              </a:rPr>
              <a:t>zeroization</a:t>
            </a:r>
            <a:r>
              <a:rPr sz="2800" b="0" dirty="0">
                <a:latin typeface="Times New Roman"/>
              </a:rPr>
              <a:t>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3/3 architectural directives PASS: bidirectional core, tamper/</a:t>
            </a:r>
            <a:r>
              <a:rPr sz="2800" b="0" dirty="0" err="1">
                <a:latin typeface="Times New Roman"/>
              </a:rPr>
              <a:t>zeroize</a:t>
            </a:r>
            <a:r>
              <a:rPr sz="2800" b="0" dirty="0">
                <a:latin typeface="Times New Roman"/>
              </a:rPr>
              <a:t> + IRQ, AXI4-Lite.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Fault injection: STATUS = 0x0000000C; </a:t>
            </a:r>
            <a:r>
              <a:rPr sz="2800" b="0" dirty="0" err="1">
                <a:latin typeface="Times New Roman"/>
              </a:rPr>
              <a:t>security_irq</a:t>
            </a:r>
            <a:r>
              <a:rPr sz="2800" b="0" dirty="0">
                <a:latin typeface="Times New Roman"/>
              </a:rPr>
              <a:t> asserted → PASS.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NIST KNOWN-ANSWER TEST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TV1 encryption </a:t>
            </a:r>
            <a:r>
              <a:rPr sz="2800" b="0" dirty="0" err="1">
                <a:latin typeface="Times New Roman"/>
              </a:rPr>
              <a:t>ciphertext</a:t>
            </a:r>
            <a:r>
              <a:rPr sz="2800" b="0" dirty="0">
                <a:latin typeface="Times New Roman"/>
              </a:rPr>
              <a:t>: 3AD77BB40D7A3660A89ECAF32466EF97 → PASS.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TV1 decryption plaintext recovered → PASS.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EVIDENCE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Self-checking Verilog </a:t>
            </a:r>
            <a:r>
              <a:rPr sz="2800" b="0" dirty="0" err="1">
                <a:latin typeface="Times New Roman"/>
              </a:rPr>
              <a:t>testbenches</a:t>
            </a:r>
            <a:r>
              <a:rPr sz="2800" b="0" dirty="0">
                <a:latin typeface="Times New Roman"/>
              </a:rPr>
              <a:t> + </a:t>
            </a:r>
            <a:r>
              <a:rPr sz="2800" b="0" dirty="0" err="1">
                <a:latin typeface="Times New Roman"/>
              </a:rPr>
              <a:t>GTKWave</a:t>
            </a:r>
            <a:r>
              <a:rPr sz="2800" b="0" dirty="0">
                <a:latin typeface="Times New Roman"/>
              </a:rPr>
              <a:t> waveform evidence committed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10983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buNone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6046" y="2781300"/>
            <a:ext cx="15831726" cy="1142979"/>
          </a:xfrm>
          <a:prstGeom prst="rect">
            <a:avLst/>
          </a:prstGeom>
        </p:spPr>
        <p:txBody>
          <a:bodyPr wrap="square" lIns="36576" tIns="27432" rIns="36576" bIns="27432" rtlCol="0" anchor="t">
            <a:noAutofit/>
          </a:bodyPr>
          <a:lstStyle/>
          <a:p>
            <a:pPr algn="l">
              <a:buNone/>
            </a:pPr>
            <a:r>
              <a:rPr sz="2800" b="1" dirty="0">
                <a:latin typeface="Times New Roman"/>
              </a:rPr>
              <a:t>RESEARCH AND </a:t>
            </a:r>
            <a:r>
              <a:rPr sz="2800" b="1" dirty="0" smtClean="0">
                <a:latin typeface="Times New Roman"/>
              </a:rPr>
              <a:t>REFERENCES</a:t>
            </a:r>
            <a:r>
              <a:rPr lang="en-US" sz="2800" b="1" dirty="0" smtClean="0">
                <a:latin typeface="Times New Roman"/>
              </a:rPr>
              <a:t> :</a:t>
            </a:r>
            <a:endParaRPr sz="2800" b="1" dirty="0">
              <a:latin typeface="Times New Roman"/>
            </a:endParaRPr>
          </a:p>
          <a:p>
            <a:pPr algn="l">
              <a:buNone/>
            </a:pPr>
            <a:endParaRPr sz="2800" b="1" dirty="0">
              <a:latin typeface="Times New Roman"/>
            </a:endParaRPr>
          </a:p>
          <a:p>
            <a:pPr algn="l">
              <a:buNone/>
            </a:pPr>
            <a:r>
              <a:rPr sz="2800" b="0" dirty="0">
                <a:latin typeface="Times New Roman"/>
              </a:rPr>
              <a:t>• NIST — FIPS 197, Advanced Encryption Standard (AES).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NIST SP 800-38A — block-cipher test vectors.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ARM — AMBA AXI4-Lite Interface Specification.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</a:t>
            </a:r>
            <a:r>
              <a:rPr sz="2800" b="0" dirty="0" err="1">
                <a:latin typeface="Times New Roman"/>
              </a:rPr>
              <a:t>mbed</a:t>
            </a:r>
            <a:r>
              <a:rPr sz="2800" b="0" dirty="0">
                <a:latin typeface="Times New Roman"/>
              </a:rPr>
              <a:t> TLS Cortex-M4 benchmark used for the software baseline.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</a:t>
            </a:r>
            <a:r>
              <a:rPr sz="2800" b="0" dirty="0" err="1">
                <a:latin typeface="Times New Roman"/>
              </a:rPr>
              <a:t>Yosys</a:t>
            </a:r>
            <a:r>
              <a:rPr sz="2800" b="0" dirty="0">
                <a:latin typeface="Times New Roman"/>
              </a:rPr>
              <a:t> Open Synthesis Suite; Icarus Verilog; AMD </a:t>
            </a:r>
            <a:r>
              <a:rPr sz="2800" b="0" dirty="0" err="1">
                <a:latin typeface="Times New Roman"/>
              </a:rPr>
              <a:t>Vivado</a:t>
            </a:r>
            <a:r>
              <a:rPr sz="2800" b="0" dirty="0">
                <a:latin typeface="Times New Roman"/>
              </a:rPr>
              <a:t>.</a:t>
            </a:r>
          </a:p>
          <a:p>
            <a:pPr algn="l">
              <a:buNone/>
            </a:pPr>
            <a:endParaRPr sz="2800" b="0" dirty="0">
              <a:latin typeface="Times New Roman"/>
            </a:endParaRPr>
          </a:p>
          <a:p>
            <a:pPr algn="l">
              <a:buNone/>
            </a:pPr>
            <a:r>
              <a:rPr sz="2800" b="1" dirty="0">
                <a:latin typeface="Times New Roman"/>
              </a:rPr>
              <a:t>PROJECT </a:t>
            </a:r>
            <a:r>
              <a:rPr sz="2800" b="1" dirty="0" smtClean="0">
                <a:latin typeface="Times New Roman"/>
              </a:rPr>
              <a:t>SOURCES</a:t>
            </a:r>
            <a:r>
              <a:rPr lang="en-US" sz="2800" b="1" dirty="0" smtClean="0">
                <a:latin typeface="Times New Roman"/>
              </a:rPr>
              <a:t> :</a:t>
            </a:r>
            <a:endParaRPr sz="2800" b="1" dirty="0">
              <a:latin typeface="Times New Roman"/>
            </a:endParaRPr>
          </a:p>
          <a:p>
            <a:pPr algn="l">
              <a:buNone/>
            </a:pPr>
            <a:r>
              <a:rPr sz="2800" b="0" dirty="0">
                <a:latin typeface="Times New Roman"/>
              </a:rPr>
              <a:t>• VELTRAXX26-PS16-QuadraX — architecture, RTL, verification and FPGA evidence.</a:t>
            </a:r>
          </a:p>
          <a:p>
            <a:pPr algn="l">
              <a:buNone/>
            </a:pPr>
            <a:r>
              <a:rPr sz="2800" b="0" dirty="0">
                <a:latin typeface="Times New Roman"/>
              </a:rPr>
              <a:t>• AES-Crypto-</a:t>
            </a:r>
            <a:r>
              <a:rPr sz="2800" b="0" dirty="0" err="1">
                <a:latin typeface="Times New Roman"/>
              </a:rPr>
              <a:t>SoC</a:t>
            </a:r>
            <a:r>
              <a:rPr sz="2800" b="0" dirty="0">
                <a:latin typeface="Times New Roman"/>
              </a:rPr>
              <a:t> — AES-128 </a:t>
            </a:r>
            <a:r>
              <a:rPr sz="2800" b="0" dirty="0" err="1">
                <a:latin typeface="Times New Roman"/>
              </a:rPr>
              <a:t>SoC</a:t>
            </a:r>
            <a:r>
              <a:rPr sz="2800" b="0" dirty="0">
                <a:latin typeface="Times New Roman"/>
              </a:rPr>
              <a:t> and RTL-to-GDSII implementation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699</Words>
  <Application>Microsoft Office PowerPoint</Application>
  <PresentationFormat>Custom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HI</dc:creator>
  <cp:lastModifiedBy>HI</cp:lastModifiedBy>
  <cp:revision>5</cp:revision>
  <dcterms:created xsi:type="dcterms:W3CDTF">2006-08-16T00:00:00Z</dcterms:created>
  <dcterms:modified xsi:type="dcterms:W3CDTF">2026-08-29T03:52:19Z</dcterms:modified>
  <dc:identifier>DAHTdevX50Q</dc:identifier>
</cp:coreProperties>
</file>